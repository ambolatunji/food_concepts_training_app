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65" r:id="rId3"/>
    <p:sldId id="317" r:id="rId4"/>
    <p:sldId id="298" r:id="rId5"/>
    <p:sldId id="299" r:id="rId6"/>
    <p:sldId id="314" r:id="rId7"/>
    <p:sldId id="284" r:id="rId8"/>
    <p:sldId id="283" r:id="rId9"/>
    <p:sldId id="281" r:id="rId10"/>
    <p:sldId id="316" r:id="rId11"/>
    <p:sldId id="315" r:id="rId12"/>
    <p:sldId id="302" r:id="rId13"/>
    <p:sldId id="303" r:id="rId14"/>
    <p:sldId id="285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56" d="100"/>
          <a:sy n="56" d="100"/>
        </p:scale>
        <p:origin x="90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Stores Training Coverage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Stores Training Coverage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549-4B78-865F-2F71823413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549-4B78-865F-2F71823413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Trained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313</c:v>
                </c:pt>
                <c:pt idx="1">
                  <c:v>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49-4B78-865F-2F718234139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>
        <c:manualLayout>
          <c:layoutTarget val="inner"/>
          <c:xMode val="edge"/>
          <c:yMode val="edge"/>
          <c:x val="0.32179133858267717"/>
          <c:y val="0.18154010826771655"/>
          <c:w val="0.43141748687664044"/>
          <c:h val="0.6471262303149606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Staff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026-4B19-9028-2F95FF6D671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26-4B19-9028-2F95FF6D67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841</c:v>
                </c:pt>
                <c:pt idx="1">
                  <c:v>6452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26-4B19-9028-2F95FF6D671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Depatment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Operation</c:v>
                </c:pt>
                <c:pt idx="1">
                  <c:v>SCD Operation</c:v>
                </c:pt>
                <c:pt idx="2">
                  <c:v>Human Resources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6549</c:v>
                </c:pt>
                <c:pt idx="1">
                  <c:v>116</c:v>
                </c:pt>
                <c:pt idx="2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97-461A-9936-AD634A18B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6919536"/>
        <c:axId val="736920016"/>
      </c:lineChart>
      <c:catAx>
        <c:axId val="736919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736920016"/>
        <c:crosses val="autoZero"/>
        <c:auto val="1"/>
        <c:lblAlgn val="ctr"/>
        <c:lblOffset val="100"/>
        <c:noMultiLvlLbl val="0"/>
      </c:catAx>
      <c:valAx>
        <c:axId val="73692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  <c:crossAx val="7369195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G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6C5D8C-E793-4986-9A02-52F8803A90EB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02AA543-EE1D-4D08-8485-DF64F40D6914}">
      <dgm:prSet/>
      <dgm:spPr/>
      <dgm:t>
        <a:bodyPr/>
        <a:lstStyle/>
        <a:p>
          <a:r>
            <a:rPr lang="en-US" b="1" dirty="0"/>
            <a:t>Report Year: 2025</a:t>
          </a:r>
          <a:endParaRPr lang="en-US" dirty="0"/>
        </a:p>
      </dgm:t>
    </dgm:pt>
    <dgm:pt modelId="{B4E7962A-C64C-4739-A9CE-BE47176B7760}" type="parTrans" cxnId="{14C3C708-85DC-400C-9C25-F7E610DDD58F}">
      <dgm:prSet/>
      <dgm:spPr/>
      <dgm:t>
        <a:bodyPr/>
        <a:lstStyle/>
        <a:p>
          <a:endParaRPr lang="en-US"/>
        </a:p>
      </dgm:t>
    </dgm:pt>
    <dgm:pt modelId="{3ED4AC0D-1BFB-47D3-B086-0B03DFB47B25}" type="sibTrans" cxnId="{14C3C708-85DC-400C-9C25-F7E610DDD58F}">
      <dgm:prSet/>
      <dgm:spPr/>
      <dgm:t>
        <a:bodyPr/>
        <a:lstStyle/>
        <a:p>
          <a:endParaRPr lang="en-US"/>
        </a:p>
      </dgm:t>
    </dgm:pt>
    <dgm:pt modelId="{EB6E8B38-05DF-47AF-BAFC-31A8F0148A4E}">
      <dgm:prSet/>
      <dgm:spPr/>
      <dgm:t>
        <a:bodyPr/>
        <a:lstStyle/>
        <a:p>
          <a:r>
            <a:rPr lang="en-US"/>
            <a:t>📊 Total Trainings: 1090</a:t>
          </a:r>
        </a:p>
      </dgm:t>
    </dgm:pt>
    <dgm:pt modelId="{CABE2AE8-22A6-433E-80DC-98FEF83BECAE}" type="parTrans" cxnId="{88B577A3-BACB-4762-841D-2DD2660CEC9E}">
      <dgm:prSet/>
      <dgm:spPr/>
      <dgm:t>
        <a:bodyPr/>
        <a:lstStyle/>
        <a:p>
          <a:endParaRPr lang="en-US"/>
        </a:p>
      </dgm:t>
    </dgm:pt>
    <dgm:pt modelId="{D4CE4F22-1884-423B-BB85-F19F3FA5857F}" type="sibTrans" cxnId="{88B577A3-BACB-4762-841D-2DD2660CEC9E}">
      <dgm:prSet/>
      <dgm:spPr/>
      <dgm:t>
        <a:bodyPr/>
        <a:lstStyle/>
        <a:p>
          <a:endParaRPr lang="en-US"/>
        </a:p>
      </dgm:t>
    </dgm:pt>
    <dgm:pt modelId="{A3887675-FB55-462C-828E-F63E706F44A6}">
      <dgm:prSet/>
      <dgm:spPr/>
      <dgm:t>
        <a:bodyPr/>
        <a:lstStyle/>
        <a:p>
          <a:r>
            <a:rPr lang="en-US"/>
            <a:t>👥 Total Staff (All): 8423</a:t>
          </a:r>
        </a:p>
      </dgm:t>
    </dgm:pt>
    <dgm:pt modelId="{F46C1F72-0066-4D05-97D3-6D1A97ED7800}" type="parTrans" cxnId="{1AD21C6D-593D-4C5E-8D93-64219E575D31}">
      <dgm:prSet/>
      <dgm:spPr/>
      <dgm:t>
        <a:bodyPr/>
        <a:lstStyle/>
        <a:p>
          <a:endParaRPr lang="en-US"/>
        </a:p>
      </dgm:t>
    </dgm:pt>
    <dgm:pt modelId="{4C36AC54-A045-4C17-A769-E42CC224A4F9}" type="sibTrans" cxnId="{1AD21C6D-593D-4C5E-8D93-64219E575D31}">
      <dgm:prSet/>
      <dgm:spPr/>
      <dgm:t>
        <a:bodyPr/>
        <a:lstStyle/>
        <a:p>
          <a:endParaRPr lang="en-US"/>
        </a:p>
      </dgm:t>
    </dgm:pt>
    <dgm:pt modelId="{4520A375-2F92-41CB-ADEE-AA92FE737153}">
      <dgm:prSet/>
      <dgm:spPr/>
      <dgm:t>
        <a:bodyPr/>
        <a:lstStyle/>
        <a:p>
          <a:r>
            <a:rPr lang="en-US"/>
            <a:t>✅ Active Staff: 7293</a:t>
          </a:r>
        </a:p>
      </dgm:t>
    </dgm:pt>
    <dgm:pt modelId="{B6C139A7-5FBD-492B-B3F6-D76DE798025C}" type="parTrans" cxnId="{1B48D897-1830-4465-BCF6-819F28453E64}">
      <dgm:prSet/>
      <dgm:spPr/>
      <dgm:t>
        <a:bodyPr/>
        <a:lstStyle/>
        <a:p>
          <a:endParaRPr lang="en-US"/>
        </a:p>
      </dgm:t>
    </dgm:pt>
    <dgm:pt modelId="{D294130A-41EF-4FA8-939A-BD5D15E2BC33}" type="sibTrans" cxnId="{1B48D897-1830-4465-BCF6-819F28453E64}">
      <dgm:prSet/>
      <dgm:spPr/>
      <dgm:t>
        <a:bodyPr/>
        <a:lstStyle/>
        <a:p>
          <a:endParaRPr lang="en-US"/>
        </a:p>
      </dgm:t>
    </dgm:pt>
    <dgm:pt modelId="{3C99A73E-EC0D-476B-A31E-40A35E6ACDD3}">
      <dgm:prSet/>
      <dgm:spPr/>
      <dgm:t>
        <a:bodyPr/>
        <a:lstStyle/>
        <a:p>
          <a:r>
            <a:rPr lang="en-US"/>
            <a:t>📚 Staff Trained (Active): 841</a:t>
          </a:r>
        </a:p>
      </dgm:t>
    </dgm:pt>
    <dgm:pt modelId="{16BD0D6D-5F24-412E-A621-4AAD87C5F3CF}" type="parTrans" cxnId="{9512BAFB-7FD3-488D-B4BF-3516D7233313}">
      <dgm:prSet/>
      <dgm:spPr/>
      <dgm:t>
        <a:bodyPr/>
        <a:lstStyle/>
        <a:p>
          <a:endParaRPr lang="en-US"/>
        </a:p>
      </dgm:t>
    </dgm:pt>
    <dgm:pt modelId="{978038EF-0F59-496B-9B7A-82C8B66F2D6E}" type="sibTrans" cxnId="{9512BAFB-7FD3-488D-B4BF-3516D7233313}">
      <dgm:prSet/>
      <dgm:spPr/>
      <dgm:t>
        <a:bodyPr/>
        <a:lstStyle/>
        <a:p>
          <a:endParaRPr lang="en-US"/>
        </a:p>
      </dgm:t>
    </dgm:pt>
    <dgm:pt modelId="{F3F1442C-36F9-40B2-B51B-3513F98D22F6}">
      <dgm:prSet/>
      <dgm:spPr/>
      <dgm:t>
        <a:bodyPr/>
        <a:lstStyle/>
        <a:p>
          <a:r>
            <a:rPr lang="en-US"/>
            <a:t>🏪 Stores Trained: 313</a:t>
          </a:r>
        </a:p>
      </dgm:t>
    </dgm:pt>
    <dgm:pt modelId="{4631A82D-431F-4E53-9AFB-25B278F634C1}" type="parTrans" cxnId="{61101425-56B5-470C-AA0E-FD5F8EBD9E45}">
      <dgm:prSet/>
      <dgm:spPr/>
      <dgm:t>
        <a:bodyPr/>
        <a:lstStyle/>
        <a:p>
          <a:endParaRPr lang="en-US"/>
        </a:p>
      </dgm:t>
    </dgm:pt>
    <dgm:pt modelId="{8913D75A-A956-440F-A8BC-22B84E37A28E}" type="sibTrans" cxnId="{61101425-56B5-470C-AA0E-FD5F8EBD9E45}">
      <dgm:prSet/>
      <dgm:spPr/>
      <dgm:t>
        <a:bodyPr/>
        <a:lstStyle/>
        <a:p>
          <a:endParaRPr lang="en-US"/>
        </a:p>
      </dgm:t>
    </dgm:pt>
    <dgm:pt modelId="{BF56BE8A-4081-4849-AEA0-8BC7D0737F97}">
      <dgm:prSet/>
      <dgm:spPr/>
      <dgm:t>
        <a:bodyPr/>
        <a:lstStyle/>
        <a:p>
          <a:r>
            <a:rPr lang="en-US" dirty="0"/>
            <a:t>⏰ Pending Trainings: 6452</a:t>
          </a:r>
        </a:p>
      </dgm:t>
    </dgm:pt>
    <dgm:pt modelId="{485DD4DD-2402-4637-91F6-FB299A1F94DA}" type="parTrans" cxnId="{36AD4095-FF22-4036-AC4E-4C279FDF5716}">
      <dgm:prSet/>
      <dgm:spPr/>
      <dgm:t>
        <a:bodyPr/>
        <a:lstStyle/>
        <a:p>
          <a:endParaRPr lang="en-US"/>
        </a:p>
      </dgm:t>
    </dgm:pt>
    <dgm:pt modelId="{99833F48-D3A7-4F1F-9364-67AC76971439}" type="sibTrans" cxnId="{36AD4095-FF22-4036-AC4E-4C279FDF5716}">
      <dgm:prSet/>
      <dgm:spPr/>
      <dgm:t>
        <a:bodyPr/>
        <a:lstStyle/>
        <a:p>
          <a:endParaRPr lang="en-US"/>
        </a:p>
      </dgm:t>
    </dgm:pt>
    <dgm:pt modelId="{B616836B-829F-4064-A89D-C0FD97149DE4}" type="pres">
      <dgm:prSet presAssocID="{7C6C5D8C-E793-4986-9A02-52F8803A90EB}" presName="linear" presStyleCnt="0">
        <dgm:presLayoutVars>
          <dgm:animLvl val="lvl"/>
          <dgm:resizeHandles val="exact"/>
        </dgm:presLayoutVars>
      </dgm:prSet>
      <dgm:spPr/>
    </dgm:pt>
    <dgm:pt modelId="{D91254B9-3FCB-42F2-A549-A9CAAE84358E}" type="pres">
      <dgm:prSet presAssocID="{A02AA543-EE1D-4D08-8485-DF64F40D691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3414CAE-FD16-451B-B9B9-C3D83D2D1D59}" type="pres">
      <dgm:prSet presAssocID="{3ED4AC0D-1BFB-47D3-B086-0B03DFB47B25}" presName="spacer" presStyleCnt="0"/>
      <dgm:spPr/>
    </dgm:pt>
    <dgm:pt modelId="{AA32F694-07CF-4FE0-9960-16325ACA9BA9}" type="pres">
      <dgm:prSet presAssocID="{EB6E8B38-05DF-47AF-BAFC-31A8F0148A4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5E5A996-D9B0-4F18-8E70-444798D883AC}" type="pres">
      <dgm:prSet presAssocID="{D4CE4F22-1884-423B-BB85-F19F3FA5857F}" presName="spacer" presStyleCnt="0"/>
      <dgm:spPr/>
    </dgm:pt>
    <dgm:pt modelId="{ABDD2871-3DE4-4420-8E32-20240313961E}" type="pres">
      <dgm:prSet presAssocID="{A3887675-FB55-462C-828E-F63E706F44A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D7DA575-CE2A-4783-BBC9-4F0574297044}" type="pres">
      <dgm:prSet presAssocID="{4C36AC54-A045-4C17-A769-E42CC224A4F9}" presName="spacer" presStyleCnt="0"/>
      <dgm:spPr/>
    </dgm:pt>
    <dgm:pt modelId="{5CD19374-4141-45EC-813E-315C7AD02191}" type="pres">
      <dgm:prSet presAssocID="{4520A375-2F92-41CB-ADEE-AA92FE73715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C490754-55D2-4E68-9658-75C88B12DEEE}" type="pres">
      <dgm:prSet presAssocID="{D294130A-41EF-4FA8-939A-BD5D15E2BC33}" presName="spacer" presStyleCnt="0"/>
      <dgm:spPr/>
    </dgm:pt>
    <dgm:pt modelId="{63B1C77C-BA4C-4480-9BA4-7E5E511FDC39}" type="pres">
      <dgm:prSet presAssocID="{3C99A73E-EC0D-476B-A31E-40A35E6ACDD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F32C465-8369-441B-ABC9-A3F25B76E9AB}" type="pres">
      <dgm:prSet presAssocID="{978038EF-0F59-496B-9B7A-82C8B66F2D6E}" presName="spacer" presStyleCnt="0"/>
      <dgm:spPr/>
    </dgm:pt>
    <dgm:pt modelId="{F832D376-2083-4C6F-B06B-69394D3852F9}" type="pres">
      <dgm:prSet presAssocID="{F3F1442C-36F9-40B2-B51B-3513F98D22F6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F70F9951-9885-4D25-BE6D-C79E2D7519DE}" type="pres">
      <dgm:prSet presAssocID="{8913D75A-A956-440F-A8BC-22B84E37A28E}" presName="spacer" presStyleCnt="0"/>
      <dgm:spPr/>
    </dgm:pt>
    <dgm:pt modelId="{87C4D544-2E15-435E-ACCB-C65705AA75BB}" type="pres">
      <dgm:prSet presAssocID="{BF56BE8A-4081-4849-AEA0-8BC7D0737F97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4C3C708-85DC-400C-9C25-F7E610DDD58F}" srcId="{7C6C5D8C-E793-4986-9A02-52F8803A90EB}" destId="{A02AA543-EE1D-4D08-8485-DF64F40D6914}" srcOrd="0" destOrd="0" parTransId="{B4E7962A-C64C-4739-A9CE-BE47176B7760}" sibTransId="{3ED4AC0D-1BFB-47D3-B086-0B03DFB47B25}"/>
    <dgm:cxn modelId="{3D107A24-D00C-4D7A-B8CA-0999C70C0FA3}" type="presOf" srcId="{F3F1442C-36F9-40B2-B51B-3513F98D22F6}" destId="{F832D376-2083-4C6F-B06B-69394D3852F9}" srcOrd="0" destOrd="0" presId="urn:microsoft.com/office/officeart/2005/8/layout/vList2"/>
    <dgm:cxn modelId="{61101425-56B5-470C-AA0E-FD5F8EBD9E45}" srcId="{7C6C5D8C-E793-4986-9A02-52F8803A90EB}" destId="{F3F1442C-36F9-40B2-B51B-3513F98D22F6}" srcOrd="5" destOrd="0" parTransId="{4631A82D-431F-4E53-9AFB-25B278F634C1}" sibTransId="{8913D75A-A956-440F-A8BC-22B84E37A28E}"/>
    <dgm:cxn modelId="{55D3E138-3D94-4974-94A9-3B80871F561D}" type="presOf" srcId="{A02AA543-EE1D-4D08-8485-DF64F40D6914}" destId="{D91254B9-3FCB-42F2-A549-A9CAAE84358E}" srcOrd="0" destOrd="0" presId="urn:microsoft.com/office/officeart/2005/8/layout/vList2"/>
    <dgm:cxn modelId="{BF5BB939-5AF1-4C61-8684-B179F197C39F}" type="presOf" srcId="{7C6C5D8C-E793-4986-9A02-52F8803A90EB}" destId="{B616836B-829F-4064-A89D-C0FD97149DE4}" srcOrd="0" destOrd="0" presId="urn:microsoft.com/office/officeart/2005/8/layout/vList2"/>
    <dgm:cxn modelId="{85AF305F-26E1-487D-A9E2-4BB6218C8B13}" type="presOf" srcId="{BF56BE8A-4081-4849-AEA0-8BC7D0737F97}" destId="{87C4D544-2E15-435E-ACCB-C65705AA75BB}" srcOrd="0" destOrd="0" presId="urn:microsoft.com/office/officeart/2005/8/layout/vList2"/>
    <dgm:cxn modelId="{1AD21C6D-593D-4C5E-8D93-64219E575D31}" srcId="{7C6C5D8C-E793-4986-9A02-52F8803A90EB}" destId="{A3887675-FB55-462C-828E-F63E706F44A6}" srcOrd="2" destOrd="0" parTransId="{F46C1F72-0066-4D05-97D3-6D1A97ED7800}" sibTransId="{4C36AC54-A045-4C17-A769-E42CC224A4F9}"/>
    <dgm:cxn modelId="{6AF64458-2493-4D3F-B968-25522233AA66}" type="presOf" srcId="{4520A375-2F92-41CB-ADEE-AA92FE737153}" destId="{5CD19374-4141-45EC-813E-315C7AD02191}" srcOrd="0" destOrd="0" presId="urn:microsoft.com/office/officeart/2005/8/layout/vList2"/>
    <dgm:cxn modelId="{36AD4095-FF22-4036-AC4E-4C279FDF5716}" srcId="{7C6C5D8C-E793-4986-9A02-52F8803A90EB}" destId="{BF56BE8A-4081-4849-AEA0-8BC7D0737F97}" srcOrd="6" destOrd="0" parTransId="{485DD4DD-2402-4637-91F6-FB299A1F94DA}" sibTransId="{99833F48-D3A7-4F1F-9364-67AC76971439}"/>
    <dgm:cxn modelId="{1B48D897-1830-4465-BCF6-819F28453E64}" srcId="{7C6C5D8C-E793-4986-9A02-52F8803A90EB}" destId="{4520A375-2F92-41CB-ADEE-AA92FE737153}" srcOrd="3" destOrd="0" parTransId="{B6C139A7-5FBD-492B-B3F6-D76DE798025C}" sibTransId="{D294130A-41EF-4FA8-939A-BD5D15E2BC33}"/>
    <dgm:cxn modelId="{88B577A3-BACB-4762-841D-2DD2660CEC9E}" srcId="{7C6C5D8C-E793-4986-9A02-52F8803A90EB}" destId="{EB6E8B38-05DF-47AF-BAFC-31A8F0148A4E}" srcOrd="1" destOrd="0" parTransId="{CABE2AE8-22A6-433E-80DC-98FEF83BECAE}" sibTransId="{D4CE4F22-1884-423B-BB85-F19F3FA5857F}"/>
    <dgm:cxn modelId="{316A7BAF-1F84-4241-B335-8B119A9C9E86}" type="presOf" srcId="{EB6E8B38-05DF-47AF-BAFC-31A8F0148A4E}" destId="{AA32F694-07CF-4FE0-9960-16325ACA9BA9}" srcOrd="0" destOrd="0" presId="urn:microsoft.com/office/officeart/2005/8/layout/vList2"/>
    <dgm:cxn modelId="{278296CC-216B-4AE2-8DF0-603AF9D8F34B}" type="presOf" srcId="{A3887675-FB55-462C-828E-F63E706F44A6}" destId="{ABDD2871-3DE4-4420-8E32-20240313961E}" srcOrd="0" destOrd="0" presId="urn:microsoft.com/office/officeart/2005/8/layout/vList2"/>
    <dgm:cxn modelId="{59E4E9FA-1479-4659-B0B6-B9DDEA666AC8}" type="presOf" srcId="{3C99A73E-EC0D-476B-A31E-40A35E6ACDD3}" destId="{63B1C77C-BA4C-4480-9BA4-7E5E511FDC39}" srcOrd="0" destOrd="0" presId="urn:microsoft.com/office/officeart/2005/8/layout/vList2"/>
    <dgm:cxn modelId="{9512BAFB-7FD3-488D-B4BF-3516D7233313}" srcId="{7C6C5D8C-E793-4986-9A02-52F8803A90EB}" destId="{3C99A73E-EC0D-476B-A31E-40A35E6ACDD3}" srcOrd="4" destOrd="0" parTransId="{16BD0D6D-5F24-412E-A621-4AAD87C5F3CF}" sibTransId="{978038EF-0F59-496B-9B7A-82C8B66F2D6E}"/>
    <dgm:cxn modelId="{C75E7A8E-24AD-4F89-9CB6-10EB2E87E6CB}" type="presParOf" srcId="{B616836B-829F-4064-A89D-C0FD97149DE4}" destId="{D91254B9-3FCB-42F2-A549-A9CAAE84358E}" srcOrd="0" destOrd="0" presId="urn:microsoft.com/office/officeart/2005/8/layout/vList2"/>
    <dgm:cxn modelId="{975D42CC-E5FF-4391-99CE-879ABE54E9CE}" type="presParOf" srcId="{B616836B-829F-4064-A89D-C0FD97149DE4}" destId="{83414CAE-FD16-451B-B9B9-C3D83D2D1D59}" srcOrd="1" destOrd="0" presId="urn:microsoft.com/office/officeart/2005/8/layout/vList2"/>
    <dgm:cxn modelId="{B0A9F462-FF0B-48A4-83C0-2B819483F010}" type="presParOf" srcId="{B616836B-829F-4064-A89D-C0FD97149DE4}" destId="{AA32F694-07CF-4FE0-9960-16325ACA9BA9}" srcOrd="2" destOrd="0" presId="urn:microsoft.com/office/officeart/2005/8/layout/vList2"/>
    <dgm:cxn modelId="{3697BF08-44FE-4A4B-86BA-031A9A1C57B2}" type="presParOf" srcId="{B616836B-829F-4064-A89D-C0FD97149DE4}" destId="{05E5A996-D9B0-4F18-8E70-444798D883AC}" srcOrd="3" destOrd="0" presId="urn:microsoft.com/office/officeart/2005/8/layout/vList2"/>
    <dgm:cxn modelId="{E69DD319-F6EE-4D75-9AFC-D86207B7726A}" type="presParOf" srcId="{B616836B-829F-4064-A89D-C0FD97149DE4}" destId="{ABDD2871-3DE4-4420-8E32-20240313961E}" srcOrd="4" destOrd="0" presId="urn:microsoft.com/office/officeart/2005/8/layout/vList2"/>
    <dgm:cxn modelId="{11253E98-4C76-41E3-8BA0-D7B5698F74A2}" type="presParOf" srcId="{B616836B-829F-4064-A89D-C0FD97149DE4}" destId="{5D7DA575-CE2A-4783-BBC9-4F0574297044}" srcOrd="5" destOrd="0" presId="urn:microsoft.com/office/officeart/2005/8/layout/vList2"/>
    <dgm:cxn modelId="{C0C9219E-AD7A-4D5B-9B31-DFB40F6084DA}" type="presParOf" srcId="{B616836B-829F-4064-A89D-C0FD97149DE4}" destId="{5CD19374-4141-45EC-813E-315C7AD02191}" srcOrd="6" destOrd="0" presId="urn:microsoft.com/office/officeart/2005/8/layout/vList2"/>
    <dgm:cxn modelId="{D72F9824-B0D6-4584-AD79-DE358201E10E}" type="presParOf" srcId="{B616836B-829F-4064-A89D-C0FD97149DE4}" destId="{6C490754-55D2-4E68-9658-75C88B12DEEE}" srcOrd="7" destOrd="0" presId="urn:microsoft.com/office/officeart/2005/8/layout/vList2"/>
    <dgm:cxn modelId="{623F5AE7-F1DD-41ED-91C7-480EA9E57240}" type="presParOf" srcId="{B616836B-829F-4064-A89D-C0FD97149DE4}" destId="{63B1C77C-BA4C-4480-9BA4-7E5E511FDC39}" srcOrd="8" destOrd="0" presId="urn:microsoft.com/office/officeart/2005/8/layout/vList2"/>
    <dgm:cxn modelId="{39FC791D-A8A8-4FE6-95E5-FA91495A0C62}" type="presParOf" srcId="{B616836B-829F-4064-A89D-C0FD97149DE4}" destId="{0F32C465-8369-441B-ABC9-A3F25B76E9AB}" srcOrd="9" destOrd="0" presId="urn:microsoft.com/office/officeart/2005/8/layout/vList2"/>
    <dgm:cxn modelId="{C76207D0-B57F-42E2-BCF1-3E7A20BC9957}" type="presParOf" srcId="{B616836B-829F-4064-A89D-C0FD97149DE4}" destId="{F832D376-2083-4C6F-B06B-69394D3852F9}" srcOrd="10" destOrd="0" presId="urn:microsoft.com/office/officeart/2005/8/layout/vList2"/>
    <dgm:cxn modelId="{062CFA67-892C-4242-8E96-65E78F1C85DD}" type="presParOf" srcId="{B616836B-829F-4064-A89D-C0FD97149DE4}" destId="{F70F9951-9885-4D25-BE6D-C79E2D7519DE}" srcOrd="11" destOrd="0" presId="urn:microsoft.com/office/officeart/2005/8/layout/vList2"/>
    <dgm:cxn modelId="{0D19269C-6B22-43F4-82EE-9FDC2AB6FA29}" type="presParOf" srcId="{B616836B-829F-4064-A89D-C0FD97149DE4}" destId="{87C4D544-2E15-435E-ACCB-C65705AA75B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254B9-3FCB-42F2-A549-A9CAAE84358E}">
      <dsp:nvSpPr>
        <dsp:cNvPr id="0" name=""/>
        <dsp:cNvSpPr/>
      </dsp:nvSpPr>
      <dsp:spPr>
        <a:xfrm>
          <a:off x="0" y="55715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Report Year: 2025</a:t>
          </a:r>
          <a:endParaRPr lang="en-US" sz="2700" kern="1200" dirty="0"/>
        </a:p>
      </dsp:txBody>
      <dsp:txXfrm>
        <a:off x="34577" y="90292"/>
        <a:ext cx="5106230" cy="639153"/>
      </dsp:txXfrm>
    </dsp:sp>
    <dsp:sp modelId="{AA32F694-07CF-4FE0-9960-16325ACA9BA9}">
      <dsp:nvSpPr>
        <dsp:cNvPr id="0" name=""/>
        <dsp:cNvSpPr/>
      </dsp:nvSpPr>
      <dsp:spPr>
        <a:xfrm>
          <a:off x="0" y="841782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📊 Total Trainings: 1090</a:t>
          </a:r>
        </a:p>
      </dsp:txBody>
      <dsp:txXfrm>
        <a:off x="34577" y="876359"/>
        <a:ext cx="5106230" cy="639153"/>
      </dsp:txXfrm>
    </dsp:sp>
    <dsp:sp modelId="{ABDD2871-3DE4-4420-8E32-20240313961E}">
      <dsp:nvSpPr>
        <dsp:cNvPr id="0" name=""/>
        <dsp:cNvSpPr/>
      </dsp:nvSpPr>
      <dsp:spPr>
        <a:xfrm>
          <a:off x="0" y="1627849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👥 Total Staff (All): 8423</a:t>
          </a:r>
        </a:p>
      </dsp:txBody>
      <dsp:txXfrm>
        <a:off x="34577" y="1662426"/>
        <a:ext cx="5106230" cy="639153"/>
      </dsp:txXfrm>
    </dsp:sp>
    <dsp:sp modelId="{5CD19374-4141-45EC-813E-315C7AD02191}">
      <dsp:nvSpPr>
        <dsp:cNvPr id="0" name=""/>
        <dsp:cNvSpPr/>
      </dsp:nvSpPr>
      <dsp:spPr>
        <a:xfrm>
          <a:off x="0" y="2413916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✅ Active Staff: 7293</a:t>
          </a:r>
        </a:p>
      </dsp:txBody>
      <dsp:txXfrm>
        <a:off x="34577" y="2448493"/>
        <a:ext cx="5106230" cy="639153"/>
      </dsp:txXfrm>
    </dsp:sp>
    <dsp:sp modelId="{63B1C77C-BA4C-4480-9BA4-7E5E511FDC39}">
      <dsp:nvSpPr>
        <dsp:cNvPr id="0" name=""/>
        <dsp:cNvSpPr/>
      </dsp:nvSpPr>
      <dsp:spPr>
        <a:xfrm>
          <a:off x="0" y="3199984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📚 Staff Trained (Active): 841</a:t>
          </a:r>
        </a:p>
      </dsp:txBody>
      <dsp:txXfrm>
        <a:off x="34577" y="3234561"/>
        <a:ext cx="5106230" cy="639153"/>
      </dsp:txXfrm>
    </dsp:sp>
    <dsp:sp modelId="{F832D376-2083-4C6F-B06B-69394D3852F9}">
      <dsp:nvSpPr>
        <dsp:cNvPr id="0" name=""/>
        <dsp:cNvSpPr/>
      </dsp:nvSpPr>
      <dsp:spPr>
        <a:xfrm>
          <a:off x="0" y="3986051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🏪 Stores Trained: 313</a:t>
          </a:r>
        </a:p>
      </dsp:txBody>
      <dsp:txXfrm>
        <a:off x="34577" y="4020628"/>
        <a:ext cx="5106230" cy="639153"/>
      </dsp:txXfrm>
    </dsp:sp>
    <dsp:sp modelId="{87C4D544-2E15-435E-ACCB-C65705AA75BB}">
      <dsp:nvSpPr>
        <dsp:cNvPr id="0" name=""/>
        <dsp:cNvSpPr/>
      </dsp:nvSpPr>
      <dsp:spPr>
        <a:xfrm>
          <a:off x="0" y="4772118"/>
          <a:ext cx="5175384" cy="70830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⏰ Pending Trainings: 6452</a:t>
          </a:r>
        </a:p>
      </dsp:txBody>
      <dsp:txXfrm>
        <a:off x="34577" y="4806695"/>
        <a:ext cx="5106230" cy="639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87104" y="259307"/>
            <a:ext cx="10466696" cy="6141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MAKE HEADINGS UPPER CASE</a:t>
            </a:r>
            <a:endParaRPr lang="en-ZA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28048" y="1201003"/>
            <a:ext cx="10466696" cy="497596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800"/>
              </a:spcBef>
              <a:defRPr/>
            </a:lvl1pPr>
            <a:lvl2pPr marL="273050" indent="-273050">
              <a:lnSpc>
                <a:spcPct val="100000"/>
              </a:lnSpc>
              <a:spcBef>
                <a:spcPts val="800"/>
              </a:spcBef>
              <a:defRPr/>
            </a:lvl2pPr>
            <a:lvl3pPr marL="805180" indent="-177800">
              <a:lnSpc>
                <a:spcPct val="100000"/>
              </a:lnSpc>
              <a:spcBef>
                <a:spcPts val="800"/>
              </a:spcBef>
              <a:defRPr/>
            </a:lvl3pPr>
            <a:lvl4pPr marL="1351280" indent="-190500">
              <a:lnSpc>
                <a:spcPct val="100000"/>
              </a:lnSpc>
              <a:spcBef>
                <a:spcPts val="800"/>
              </a:spcBef>
              <a:tabLst>
                <a:tab pos="1433195" algn="l"/>
              </a:tabLst>
              <a:defRPr/>
            </a:lvl4pPr>
            <a:lvl5pPr>
              <a:lnSpc>
                <a:spcPct val="100000"/>
              </a:lnSpc>
              <a:spcBef>
                <a:spcPts val="8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ub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887104" y="259307"/>
            <a:ext cx="10466696" cy="6141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PLEASE MAKE HEADINGS UPPER CASE</a:t>
            </a:r>
            <a:endParaRPr lang="en-ZA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28048" y="1201003"/>
            <a:ext cx="10466696" cy="497596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32130" indent="-259080">
              <a:lnSpc>
                <a:spcPct val="100000"/>
              </a:lnSpc>
              <a:spcBef>
                <a:spcPts val="800"/>
              </a:spcBef>
              <a:defRPr sz="1400"/>
            </a:lvl2pPr>
            <a:lvl3pPr>
              <a:lnSpc>
                <a:spcPct val="100000"/>
              </a:lnSpc>
              <a:spcBef>
                <a:spcPts val="800"/>
              </a:spcBef>
              <a:defRPr sz="1200"/>
            </a:lvl3pPr>
            <a:lvl4pPr>
              <a:lnSpc>
                <a:spcPct val="100000"/>
              </a:lnSpc>
              <a:spcBef>
                <a:spcPts val="800"/>
              </a:spcBef>
              <a:defRPr sz="1000"/>
            </a:lvl4pPr>
            <a:lvl5pPr>
              <a:lnSpc>
                <a:spcPct val="100000"/>
              </a:lnSpc>
              <a:spcBef>
                <a:spcPts val="8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E5B4-052A-454B-8012-23F5D3CBC629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28BFB-C163-4F9E-99D2-C6FB285FBDDB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46084-CC4C-456F-B40B-BE586B5EC76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74E0C-1B2A-4C7D-8B42-88BC7D9FFDF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6440" y="136479"/>
            <a:ext cx="10515600" cy="818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MAIN HEADING IS IN BLUE 22 POINT FONT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384" y="1156883"/>
            <a:ext cx="10515600" cy="4834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31" y="397083"/>
            <a:ext cx="547490" cy="3671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784"/>
            <a:ext cx="12192000" cy="7248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rgbClr val="07479E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800" b="1" kern="1200">
          <a:solidFill>
            <a:srgbClr val="07479E"/>
          </a:solidFill>
          <a:latin typeface="Century Gothic" panose="020B0502020202020204" pitchFamily="34" charset="0"/>
          <a:ea typeface="+mn-ea"/>
          <a:cs typeface="+mn-cs"/>
        </a:defRPr>
      </a:lvl1pPr>
      <a:lvl2pPr marL="273050" indent="-273050" algn="l" defTabSz="914400" rtl="0" eaLnBrk="1" latinLnBrk="0" hangingPunct="1">
        <a:lnSpc>
          <a:spcPct val="100000"/>
        </a:lnSpc>
        <a:spcBef>
          <a:spcPts val="800"/>
        </a:spcBef>
        <a:buClr>
          <a:srgbClr val="07479E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000" kern="120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854"/>
            <a:ext cx="12192000" cy="5417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/>
          <p:cNvSpPr/>
          <p:nvPr/>
        </p:nvSpPr>
        <p:spPr>
          <a:xfrm>
            <a:off x="0" y="5522833"/>
            <a:ext cx="12192000" cy="1440873"/>
          </a:xfrm>
          <a:prstGeom prst="rect">
            <a:avLst/>
          </a:prstGeom>
          <a:solidFill>
            <a:srgbClr val="044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423961" y="5802146"/>
            <a:ext cx="4407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QEHS DEPARTMENT INSPECTION REPORT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52198" y="5765093"/>
            <a:ext cx="0" cy="74493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663" y="937895"/>
            <a:ext cx="7933707" cy="37949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73505" y="5942890"/>
            <a:ext cx="56228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sz="2000" b="1" dirty="0">
                <a:solidFill>
                  <a:schemeClr val="bg1"/>
                </a:solidFill>
              </a:rPr>
              <a:t>SONIA FOOD INDUSTRIES LTD FACILITY INSPECTION</a:t>
            </a:r>
          </a:p>
          <a:p>
            <a:pPr algn="ctr">
              <a:defRPr sz="1800"/>
            </a:pPr>
            <a:r>
              <a:rPr lang="en-US" sz="2000" b="1" dirty="0">
                <a:solidFill>
                  <a:schemeClr val="bg1"/>
                </a:solidFill>
              </a:rPr>
              <a:t>OCTOBER 8TH,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BDF8E-1C51-0C7A-E7FA-51AFB9DA9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4ECD-7A03-0606-B511-0B804B27F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57816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FD13CE-2B97-9553-3503-960295E88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04" y="660929"/>
            <a:ext cx="4495779" cy="4963494"/>
          </a:xfrm>
        </p:spPr>
        <p:txBody>
          <a:bodyPr>
            <a:normAutofit/>
          </a:bodyPr>
          <a:lstStyle/>
          <a:p>
            <a:r>
              <a:rPr lang="en-US" sz="6000" dirty="0"/>
              <a:t>Executive Summary</a:t>
            </a:r>
            <a:endParaRPr lang="en-NG" sz="60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15ADD00-4FDC-F85E-9859-AF9962CE1B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533335"/>
              </p:ext>
            </p:extLst>
          </p:nvPr>
        </p:nvGraphicFramePr>
        <p:xfrm>
          <a:off x="6178416" y="660929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Training Frequency</a:t>
            </a:r>
            <a:endParaRPr lang="en-ZA" sz="2400" dirty="0">
              <a:latin typeface="Century Gothic" panose="020B050202020202020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F4A564-AB32-5A99-679F-85D0A8FDB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571650"/>
              </p:ext>
            </p:extLst>
          </p:nvPr>
        </p:nvGraphicFramePr>
        <p:xfrm>
          <a:off x="1345721" y="854406"/>
          <a:ext cx="9178503" cy="5106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7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22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Training 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Times Held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2025-02-13 to 2025-09-30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And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2025-02-05 to 2025-10-23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First 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2025-02-04 to 2025-10-15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2025-02-18 to 2025-09-18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2025-01-30 to 2025-09-09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Water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2025-02-19 to 2025-04-29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Handlers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2025-03-21 to 2025-03-21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Frozen Pie Handling And Baking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Conservation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Maintenance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278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Effective Restaurant Management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2025-06-16 to 2025-06-16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87105" y="1242204"/>
            <a:ext cx="2494450" cy="260517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/>
              <a:t>Total Stores: 612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           STORES TRAINING COVERAGE</a:t>
            </a:r>
            <a:endParaRPr lang="en-ZA" sz="2400" dirty="0">
              <a:latin typeface="Century Gothic" panose="020B0502020202020204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F5902E3-2D41-5093-C869-25DAC0FD4B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8990918"/>
              </p:ext>
            </p:extLst>
          </p:nvPr>
        </p:nvGraphicFramePr>
        <p:xfrm>
          <a:off x="4205665" y="1242204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62652" y="941020"/>
            <a:ext cx="4209680" cy="51299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2000" b="0"/>
            </a:pPr>
            <a:r>
              <a:rPr lang="en-US" sz="2400" b="1" dirty="0"/>
              <a:t>Total Eligible Staff: 7293</a:t>
            </a:r>
          </a:p>
          <a:p>
            <a:endParaRPr lang="en-US" sz="1800" b="1" dirty="0"/>
          </a:p>
          <a:p>
            <a:pPr>
              <a:defRPr sz="1800" b="1"/>
            </a:pPr>
            <a:r>
              <a:rPr lang="en-US" sz="2400" b="1" dirty="0"/>
              <a:t>Participated: 841</a:t>
            </a:r>
          </a:p>
          <a:p>
            <a:endParaRPr lang="en-US" sz="1800" b="1" dirty="0"/>
          </a:p>
          <a:p>
            <a:pPr>
              <a:defRPr sz="1800" b="0"/>
            </a:pPr>
            <a:r>
              <a:rPr lang="en-US" sz="2400" b="1" dirty="0"/>
              <a:t>Not Participated: 6452</a:t>
            </a:r>
          </a:p>
          <a:p>
            <a:pPr marL="0" indent="0" algn="just">
              <a:buNone/>
            </a:pPr>
            <a:endParaRPr lang="en-US" sz="1800" dirty="0">
              <a:solidFill>
                <a:schemeClr val="accent3">
                  <a:lumMod val="50000"/>
                </a:schemeClr>
              </a:solidFill>
              <a:latin typeface="Century Gothic" panose="020B0502020202020204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              STAFF PARTICIPATION ANALYSIS</a:t>
            </a:r>
            <a:endParaRPr lang="en-ZA" sz="2400" dirty="0">
              <a:latin typeface="Century Gothic" panose="020B0502020202020204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95BF6E1-F1DC-C2C1-DA07-DA19603057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772627"/>
              </p:ext>
            </p:extLst>
          </p:nvPr>
        </p:nvGraphicFramePr>
        <p:xfrm>
          <a:off x="4395044" y="94102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COMPLIANCE DASHBOARD - ALL REQUIRED TRAININGS</a:t>
            </a:r>
            <a:endParaRPr lang="en-ZA" sz="2400" dirty="0">
              <a:latin typeface="Century Gothic" panose="020B0502020202020204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08E9873-E9AA-129E-5195-BABE46306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36" y="854406"/>
            <a:ext cx="8488392" cy="5166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             TRAINING BY VENUE</a:t>
            </a:r>
            <a:endParaRPr lang="en-ZA" sz="2400" dirty="0">
              <a:latin typeface="Century Gothic" panose="020B0502020202020204"/>
            </a:endParaRP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D6A3E791-0D72-C3CB-A21A-AFDA7FDDF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811" y="854406"/>
            <a:ext cx="9455989" cy="4959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TRAINING COVERAGE BY DEPARTMENT</a:t>
            </a:r>
            <a:endParaRPr lang="en-ZA" sz="2400" dirty="0">
              <a:latin typeface="Century Gothic" panose="020B0502020202020204"/>
            </a:endParaRPr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4454067-36BF-64C0-6DA8-6F32D2CA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49" y="854406"/>
            <a:ext cx="9835551" cy="48605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TRAININGS BY DEPARTMENT</a:t>
            </a:r>
            <a:endParaRPr lang="en-ZA" sz="2400" dirty="0">
              <a:latin typeface="Century Gothic" panose="020B0502020202020204"/>
            </a:endParaRP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4B7B1E15-1279-CDE2-89DA-CB2EE5008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95" y="854406"/>
            <a:ext cx="8867954" cy="48605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40257"/>
            <a:ext cx="10466696" cy="614149"/>
          </a:xfrm>
        </p:spPr>
        <p:txBody>
          <a:bodyPr>
            <a:normAutofit/>
          </a:bodyPr>
          <a:lstStyle/>
          <a:p>
            <a:pPr algn="ctr"/>
            <a:r>
              <a:rPr lang="en-ZA" sz="2400" dirty="0">
                <a:latin typeface="Century Gothic" panose="020B0502020202020204"/>
              </a:rPr>
              <a:t>TRAININGS BY REGION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2D45DC1-78FC-C8B6-29DC-7DE3BFBD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58" y="655608"/>
            <a:ext cx="9299275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87104" y="259307"/>
            <a:ext cx="10466696" cy="614149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MONTHLY TRAINING TRENDS (2025)</a:t>
            </a: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1E4BC743-0884-D3BF-949A-3DA51F421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479" y="941020"/>
            <a:ext cx="9195759" cy="49939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STAFF YET TO BE TRAINED</a:t>
            </a:r>
            <a:endParaRPr lang="en-ZA" sz="36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975B153-2326-A319-D90C-A9B8BE6577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200602"/>
              </p:ext>
            </p:extLst>
          </p:nvPr>
        </p:nvGraphicFramePr>
        <p:xfrm>
          <a:off x="1523999" y="1396999"/>
          <a:ext cx="8810446" cy="4227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652" y="1411515"/>
            <a:ext cx="10466696" cy="5186363"/>
          </a:xfrm>
        </p:spPr>
        <p:txBody>
          <a:bodyPr>
            <a:normAutofit/>
          </a:bodyPr>
          <a:lstStyle/>
          <a:p>
            <a:pPr marL="0" indent="0" algn="ctr" hangingPunct="1">
              <a:buFont typeface="Arial" panose="020B0604020202020204" pitchFamily="34" charset="0"/>
              <a:buNone/>
              <a:defRPr/>
            </a:pPr>
            <a:endParaRPr lang="en-US" sz="2000" b="1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0" indent="0" algn="ctr" hangingPunct="1">
              <a:buFont typeface="Arial" panose="020B0604020202020204" pitchFamily="34" charset="0"/>
              <a:buNone/>
              <a:defRPr/>
            </a:pPr>
            <a:endParaRPr lang="en-US" sz="2000" b="1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0" indent="0" algn="ctr" hangingPunct="1">
              <a:buFont typeface="Arial" panose="020B0604020202020204" pitchFamily="34" charset="0"/>
              <a:buNone/>
              <a:defRPr/>
            </a:pPr>
            <a:endParaRPr lang="en-US" sz="2000" b="1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0" indent="0" algn="ctr" hangingPunct="1">
              <a:buFont typeface="Arial" panose="020B0604020202020204" pitchFamily="34" charset="0"/>
              <a:buNone/>
              <a:defRPr/>
            </a:pPr>
            <a:r>
              <a:rPr lang="en-US" sz="88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</a:rPr>
              <a:t>THANK 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201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Calibri</vt:lpstr>
      <vt:lpstr>Calibri Light</vt:lpstr>
      <vt:lpstr>Century Gothic</vt:lpstr>
      <vt:lpstr>Office Theme</vt:lpstr>
      <vt:lpstr>1_Office Theme</vt:lpstr>
      <vt:lpstr>PowerPoint Presentation</vt:lpstr>
      <vt:lpstr>Introduction</vt:lpstr>
      <vt:lpstr>Executive Summary</vt:lpstr>
      <vt:lpstr>Training Frequency</vt:lpstr>
      <vt:lpstr>           STORES TRAINING COVERAGE</vt:lpstr>
      <vt:lpstr>              STAFF PARTICIPATION ANALYSIS</vt:lpstr>
      <vt:lpstr>COMPLIANCE DASHBOARD - ALL REQUIRED TRAININGS</vt:lpstr>
      <vt:lpstr>             TRAINING BY VENUE</vt:lpstr>
      <vt:lpstr>TRAINING COVERAGE BY DEPARTMENT</vt:lpstr>
      <vt:lpstr>TRAININGS BY DEPARTMENT</vt:lpstr>
      <vt:lpstr>TRAININGS BY REGION</vt:lpstr>
      <vt:lpstr>MONTHLY TRAINING TRENDS (2025)</vt:lpstr>
      <vt:lpstr>STAFF YET TO BE TRAINED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Seun Osibanjo</dc:creator>
  <cp:lastModifiedBy>Dare Olatunji</cp:lastModifiedBy>
  <cp:revision>226</cp:revision>
  <dcterms:created xsi:type="dcterms:W3CDTF">2022-01-21T06:56:00Z</dcterms:created>
  <dcterms:modified xsi:type="dcterms:W3CDTF">2025-10-30T12:08:08Z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D0A10738F1E340C58909AC8374BC8D86_12</vt:lpwstr>
  </property>
  <property fmtid="{D5CDD505-2E9C-101B-9397-08002B2CF9AE}" pid="3" name="KSOProductBuildVer">
    <vt:lpwstr>1033-12.9.0.21549</vt:lpwstr>
  </property>
</Properties>
</file>